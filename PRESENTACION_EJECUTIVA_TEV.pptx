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37160" cy="3840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2082018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26517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Control Inteligente de Tesorería y Flujo de Caja</a:t>
            </a:r>
          </a:p>
          <a:p>
            <a:pPr>
              <a:spcBef>
                <a:spcPts val="1200"/>
              </a:spcBef>
              <a:defRPr sz="1800">
                <a:solidFill>
                  <a:srgbClr val="F59E0B"/>
                </a:solidFill>
              </a:defRPr>
            </a:pPr>
            <a:r>
              <a:t>Evolución Estratégica: De la Gestión Convencional a la Automatización Financiera en Tiempo Real</a:t>
            </a:r>
          </a:p>
          <a:p>
            <a:pPr>
              <a:spcBef>
                <a:spcPts val="1800"/>
              </a:spcBef>
              <a:defRPr sz="1300">
                <a:solidFill>
                  <a:srgbClr val="CBD5E1"/>
                </a:solidFill>
              </a:defRPr>
            </a:pPr>
            <a:r>
              <a:t>Todo Eléctrico Valencia, C.A. • RIF: J-50248654-2</a:t>
            </a:r>
            <a:br/>
            <a:r>
              <a:t>Av. Monseñor Adams, El Viñedo. Valencia, Carabobo. Venezuela.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PROPÓSITO Y ENFOQUE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¿Por qué estamos hoy aquí?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329184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Claridad Financiera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Comprender la salud real del negocio sin tecnicismos contables ni hojas complejas. Ver el dinero tal como fluye día a día.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291840" cy="64008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Tranquilidad Operativa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Eliminar la incertidumbre de cuadres nocturnos y la dispersión de pagos entre Bolívares, Dólares en efectivo y Zelle.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291840" cy="64008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Decisión Oportuna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Empoderar a la junta directiva y administración con números exactos a un solo clic para anticipar pagos y compras.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CONCEPTO FINANCIERO CLAVE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es el Flujo de Caja? (El Oxígeno del Negocio)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2B48"/>
                </a:solidFill>
              </a:defRPr>
            </a:pPr>
            <a:r>
              <a:t>La Analogía del Tanque de Agua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Imagine que su empresa es un tanque de agua:</a:t>
            </a:r>
            <a:br/>
            <a:br/>
            <a:r>
              <a:t>• Entradas de Agua (Ingresos): Las ventas cobradas hoy, transferencias recibidas y abonos de clientes.</a:t>
            </a:r>
            <a:br/>
            <a:br/>
            <a:r>
              <a:t>• Salidas de Agua (Egresos): Compras a proveedores, pago de luz, nóminas, fletes y viáticos.</a:t>
            </a:r>
            <a:br/>
            <a:br/>
            <a:r>
              <a:t>• Nivel Actual (Saldo Disponible): El agua que realmente le queda en el tanque para seguir operando mañana.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La Regla de Oro en Todo Negocio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"Una empresa no quiebra por falta de ventas;</a:t>
            </a:r>
            <a:br/>
            <a:r>
              <a:t>quiebra por falta de liquidez en caja."</a:t>
            </a:r>
            <a:br/>
            <a:br/>
            <a:r>
              <a:t>Usted puede facturar $100.000 este mes en el papel contable, pero si la mitad se vendió a crédito o el dinero está atrapado en inventario, mañana no tendrá con qué pagar la nómina ni la reposición urgente de material.</a:t>
            </a:r>
            <a:br/>
            <a:br/>
            <a:r>
              <a:t>El Flujo de Caja no le habla del futuro prometido, le dice la verdad estricta de hoy.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CONCEPTO FINANCIERO CLAVE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es un Control de Gastos Inteligente?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82880" cy="12801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645920"/>
            <a:ext cx="10058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B48"/>
                </a:solidFill>
              </a:defRPr>
            </a:pPr>
            <a:r>
              <a:t>No se trata de no gastar, sino de gastar con sentido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El objetivo no es frenar el negocio, sino asegurar que cada dólar o bolívar gastado genere valor o mantenga la operatividad activa.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182880" cy="12801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154680"/>
            <a:ext cx="10058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B48"/>
                </a:solidFill>
              </a:defRPr>
            </a:pPr>
            <a:r>
              <a:t>Clasificación Automática por Rubros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Saber con precisión matemática cuánto se destina a: Operaciones, Reposición de Mercancía, Nómina, Mantenimiento e Impuestos.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18288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663440"/>
            <a:ext cx="10058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B48"/>
                </a:solidFill>
              </a:defRPr>
            </a:pPr>
            <a:r>
              <a:t>Detección Inmediata de Fugas Invisibles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Los pequeños gastos dispersos de caja chica (almuerzos, traslados, compras imprevistas) que sin registro suman miles de dólares al año.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EL RETO DEL DÍA A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Realidad Comercial: Múltiples Monedas y Cajas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</a:defRPr>
            </a:pPr>
            <a:br/>
            <a:r>
              <a:t>Billetes en caja física que deben coincidir exactamente con los cobros de mostrador.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5029200" cy="41148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Efectivo Divisas (USD)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</a:defRPr>
            </a:pPr>
            <a:br/>
            <a:r>
              <a:t>Transferencias bancarias, puntos de venta y Pago Móvil sujetos a la tasa del día.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029200" cy="41148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Bolívares (VES)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</a:defRPr>
            </a:pPr>
            <a:br/>
            <a:r>
              <a:t>Cuentas internacionales o billeteras con comisiones y tasas variables.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5029200" cy="41148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Dólar Digital (Zelle / USDT)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93B"/>
                </a:solidFill>
              </a:defRPr>
            </a:pPr>
            <a:br/>
            <a:r>
              <a:t>Cuando se cambian divisas a bolívares para pagar proveedores o nómina.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029200" cy="41148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Operaciones de Traspaso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8"/>
                </a:solidFill>
              </a:defRPr>
            </a:pPr>
            <a:r>
              <a:t>Conclusión: La gestión convencional en hojas dispersas genera retrasos y descuadres. El control inteligente los resuelve.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INNOVACIÓN Y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Solución: Sistema Integral de Tesorería TEV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828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Nube 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Disponible desde cualquier computador de oficina, tablet o celular de los directivos.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Multi-Moneda Nativo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Lleva saldos independientes en USD, VES y USDT con conversión transparente.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5 Operaciones Rápidas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Tarjetas visuales e intuitivas para registrar gastos, compras, cobros y ventas.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88720" y="4114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Calculadora de Traspasos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Registra salidas y entradas con la tasa pactada y detecta diferenciales cambiarios.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931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54880" y="4114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Matriz 1 al 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Visualización tradicional del mes completo, organizada día por día con sus saldos.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114800"/>
            <a:ext cx="2743200" cy="411480"/>
          </a:xfrm>
          <a:prstGeom prst="round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Reporte Ejecutivo 1-Click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Ficha gerencial lista para imprimir o enviar en PDF a la junta directiva.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MANUAL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¿Cómo se Utiliza? (Diseñado para Cada Rol)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3291840" cy="5943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ROL: CAJERA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Abre el sistema en el navegador al iniciar turno.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En 'Cierre Venta Diaria' registra el dinero cobrado del día.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En 'Cobro CxC' registra abonos de clientes a crédito.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Cuadra su caja en 3 minutos antes de entregar el turno.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291840" cy="5943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ROL: ADMINISTRADORA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Registra 'Gastos Operativos' y facturas de servicios.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Registra 'Pago a Proveedores' con su soporte.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Usa 'Cambio de Moneda' al convertir divisas a bolívares.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Puede importar el archivo Excel mensual con 1 clic.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291840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8"/>
                </a:solidFill>
              </a:defRPr>
            </a:pPr>
            <a:r>
              <a:t>ROL: DIRECTIVA / DUEÑOS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Ingresan desde su laptop o celular a cualquier hora.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Observan el Saldo Consolidado Disponible en tiempo real.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Consultan la Matriz Día por Día (1 al 31).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Imprimen el Reporte Ejecutivo One-Page para reuniones.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FLEXIBILIDAD SIN FRICCIONES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Compatibilidad Total: Su Excel Tradicional Sigue Vivo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0332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2B48"/>
                </a:solidFill>
              </a:defRPr>
            </a:pPr>
            <a:r>
              <a:t>Cargador Inteligente de Gastos Mensuales (Arrastrar y Soltar)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Uno de los mayores temores al adoptar nueva tecnología es perder el trabajo ya hecho o tener que escribir todo de nuevo.</a:t>
            </a:r>
            <a:br/>
            <a:br/>
            <a:r>
              <a:t>El Sistema TEV incluye un Importador Universal de Archivos Excel:</a:t>
            </a:r>
            <a:br/>
            <a:br/>
            <a:r>
              <a:t>• Arrastre cualquier archivo de gastos (Junio, Julio, Agosto, o el mes en curso).</a:t>
            </a:r>
            <a:br/>
            <a:r>
              <a:t>• El sistema interpreta automáticamente las columnas de Fecha, Concepto, Monto y Rubro.</a:t>
            </a:r>
            <a:br/>
            <a:r>
              <a:t>• Los gastos se integran al Flujo de Caja y a la Matriz 1-31 en menos de 2 segundos.</a:t>
            </a:r>
            <a:br/>
            <a:r>
              <a:t>• Puede crear nuevas cajas de monedas (ej. 'Caja Chica Sucursal 2') o nuevos rubros presupuestarios cuando lo necesite.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VALOR DE LA INVERSIÓN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 Retorno: ¿Qué Gana Todo Eléctrico Valencia?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1474763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de Tesorería y Flujo de Caja • Confidencial para Todo Eléctrico Valencia, C.A.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1640" y="2194560"/>
            <a:ext cx="914400" cy="914400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8"/>
                </a:solidFill>
              </a:defRPr>
            </a:pPr>
            <a:r>
              <a:t>Tiempo Ahorrado</a:t>
            </a:r>
          </a:p>
          <a:p>
            <a:br/>
            <a:pPr algn="ctr">
              <a:defRPr sz="1200">
                <a:solidFill>
                  <a:srgbClr val="1E293B"/>
                </a:solidFill>
              </a:defRPr>
            </a:pPr>
            <a:r>
              <a:t>De 2 horas diarias cuadrando números a reportes instantáneos.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194560"/>
            <a:ext cx="914400" cy="914400"/>
          </a:xfrm>
          <a:prstGeom prst="ellipse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8"/>
                </a:solidFill>
              </a:defRPr>
            </a:pPr>
            <a:r>
              <a:t>Cero Pérdidas Ocultas</a:t>
            </a:r>
          </a:p>
          <a:p>
            <a:br/>
            <a:pPr algn="ctr">
              <a:defRPr sz="1200">
                <a:solidFill>
                  <a:srgbClr val="1E293B"/>
                </a:solidFill>
              </a:defRPr>
            </a:pPr>
            <a:r>
              <a:t>Control milimétrico del efectivo y de las diferencias por cambio de divisas.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516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2B48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8"/>
                </a:solidFill>
              </a:defRPr>
            </a:pPr>
            <a:r>
              <a:t>Poder de Negociación</a:t>
            </a:r>
          </a:p>
          <a:p>
            <a:br/>
            <a:pPr algn="ctr">
              <a:defRPr sz="1200">
                <a:solidFill>
                  <a:srgbClr val="1E293B"/>
                </a:solidFill>
              </a:defRPr>
            </a:pPr>
            <a:r>
              <a:t>Saber exactamente cuándo pagar a proveedores para obtener mejores descuentos.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468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6920" y="2194560"/>
            <a:ext cx="914400" cy="914400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8"/>
                </a:solidFill>
              </a:defRPr>
            </a:pPr>
            <a:r>
              <a:t>Tranquilidad Gerencial</a:t>
            </a:r>
          </a:p>
          <a:p>
            <a:br/>
            <a:pPr algn="ctr">
              <a:defRPr sz="1200">
                <a:solidFill>
                  <a:srgbClr val="1E293B"/>
                </a:solidFill>
              </a:defRPr>
            </a:pPr>
            <a:r>
              <a:t>Los directivos toman decisiones sobre datos reales, no sobre suposiciones.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37160" cy="3840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2082018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26517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 Futuro de la Gestión Financiera en Sus Manos</a:t>
            </a:r>
          </a:p>
          <a:p>
            <a:pPr>
              <a:spcBef>
                <a:spcPts val="1400"/>
              </a:spcBef>
              <a:defRPr sz="2000">
                <a:solidFill>
                  <a:srgbClr val="F59E0B"/>
                </a:solidFill>
              </a:defRPr>
            </a:pPr>
            <a:r>
              <a:t>Sistema Disponible en Línea: https://tev-tesoreria.onrender.com</a:t>
            </a:r>
          </a:p>
          <a:p>
            <a:pPr>
              <a:spcBef>
                <a:spcPts val="1600"/>
              </a:spcBef>
              <a:defRPr sz="1600">
                <a:solidFill>
                  <a:srgbClr val="CBD5E1"/>
                </a:solidFill>
              </a:defRPr>
            </a:pPr>
            <a:r>
              <a:t>Preguntas, Comentarios e Inicio de Pruebas Piloto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